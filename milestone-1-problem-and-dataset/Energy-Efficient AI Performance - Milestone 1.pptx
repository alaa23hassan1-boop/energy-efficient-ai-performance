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Plus Jakarta Sans"/>
      <p:regular r:id="rId13"/>
      <p:bold r:id="rId14"/>
      <p:italic r:id="rId15"/>
      <p:boldItalic r:id="rId16"/>
    </p:embeddedFont>
    <p:embeddedFont>
      <p:font typeface="Inter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usJakartaSans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-italic.fntdata"/><Relationship Id="rId14" Type="http://schemas.openxmlformats.org/officeDocument/2006/relationships/font" Target="fonts/PlusJakartaSans-bold.fntdata"/><Relationship Id="rId17" Type="http://schemas.openxmlformats.org/officeDocument/2006/relationships/font" Target="fonts/Inter-regular.fntdata"/><Relationship Id="rId16" Type="http://schemas.openxmlformats.org/officeDocument/2006/relationships/font" Target="fonts/PlusJakartaSa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italic.fntdata"/><Relationship Id="rId6" Type="http://schemas.openxmlformats.org/officeDocument/2006/relationships/slide" Target="slides/slide1.xml"/><Relationship Id="rId18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11" Type="http://schemas.openxmlformats.org/officeDocument/2006/relationships/image" Target="../media/image15.png"/><Relationship Id="rId10" Type="http://schemas.openxmlformats.org/officeDocument/2006/relationships/image" Target="../media/image10.png"/><Relationship Id="rId12" Type="http://schemas.openxmlformats.org/officeDocument/2006/relationships/image" Target="../media/image29.png"/><Relationship Id="rId9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3516510"/>
            <a:ext cx="10668000" cy="1133475"/>
          </a:xfrm>
          <a:prstGeom prst="roundRect">
            <a:avLst>
              <a:gd fmla="val 1008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4916685"/>
            <a:ext cx="10668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62000" y="1384101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762000" y="491668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3219450" y="5116710"/>
            <a:ext cx="9525" cy="390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125" y="4011810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825" y="4011810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5950" y="4011810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05875" y="4011810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125" y="4307085"/>
            <a:ext cx="15240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762000" y="1722239"/>
            <a:ext cx="9701212" cy="1051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Energy-Efficient AI Performance Prediction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762000" y="2925960"/>
            <a:ext cx="10239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Project Proposal &amp; Technical Proof for Classifying AI System Energy Efficiency Levels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990600" y="1350764"/>
            <a:ext cx="360759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AI PROJECT LIFECYCLE – MILESTONE 1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1000125" y="3716535"/>
            <a:ext cx="11191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PROJECT TEAM MEMBERS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1000125" y="3973710"/>
            <a:ext cx="24288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Ala’ Ahmed Saad Hassan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3171825" y="3973710"/>
            <a:ext cx="286940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Ahmad Amjad Fawzi Ramadan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5695950" y="3973710"/>
            <a:ext cx="372665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Abdalrahman Omar Dhefallah Almomani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8905875" y="3973710"/>
            <a:ext cx="279796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Ahmad Ayman Wasef Toubeh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1000125" y="4268985"/>
            <a:ext cx="2547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Yasmin Samih Ahmad Rabi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762000" y="5116710"/>
            <a:ext cx="26908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Deliverable Stage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762000" y="5316735"/>
            <a:ext cx="26908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Milestone 1: Technical Proof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3533775" y="5116710"/>
            <a:ext cx="479821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Problem Type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3533775" y="5316735"/>
            <a:ext cx="479821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Multi-Class Classification (High / Moderate / Low)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/>
          <p:nvPr/>
        </p:nvSpPr>
        <p:spPr>
          <a:xfrm>
            <a:off x="762000" y="1495425"/>
            <a:ext cx="3378249" cy="4829175"/>
          </a:xfrm>
          <a:prstGeom prst="roundRect">
            <a:avLst>
              <a:gd fmla="val 451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4406949" y="1495425"/>
            <a:ext cx="3378249" cy="4829175"/>
          </a:xfrm>
          <a:prstGeom prst="roundRect">
            <a:avLst>
              <a:gd fmla="val 451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8051899" y="1495425"/>
            <a:ext cx="3378249" cy="4829175"/>
          </a:xfrm>
          <a:prstGeom prst="roundRect">
            <a:avLst>
              <a:gd fmla="val 451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4" name="Google Shape;11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325" y="18097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1274" y="18097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66224" y="18097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14437" y="1933575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45099" y="193357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90049" y="193357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762000" y="533400"/>
            <a:ext cx="11430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STRATEGIC ALIGNMENT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762000" y="771525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Business Problem &amp; Project Objectives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1076325" y="2457450"/>
            <a:ext cx="360884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Business Problem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1076325" y="2809875"/>
            <a:ext cx="2844849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 power consumption &amp; operational costs in AI infrastructure, leading to carbon footprint growth and thermal throttling risks.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4721274" y="2457450"/>
            <a:ext cx="360884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Technical Objective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4721274" y="2809875"/>
            <a:ext cx="2844849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Develop a robust Machine Learning Classifier to accurately predict hardware energy efficiency levels based on execution metrics.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8366224" y="2457450"/>
            <a:ext cx="360884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Commercial Objective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8366224" y="2809875"/>
            <a:ext cx="2844849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Optimize workload scheduling and hardware resource allocation to reduce data center electricity expenses and advance green computing.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/>
          <p:nvPr/>
        </p:nvSpPr>
        <p:spPr>
          <a:xfrm>
            <a:off x="6324600" y="1581150"/>
            <a:ext cx="5105400" cy="1352550"/>
          </a:xfrm>
          <a:prstGeom prst="roundRect">
            <a:avLst>
              <a:gd fmla="val 845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6324600" y="3124200"/>
            <a:ext cx="5105400" cy="1533525"/>
          </a:xfrm>
          <a:prstGeom prst="roundRect">
            <a:avLst>
              <a:gd fmla="val 745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6324600" y="4848225"/>
            <a:ext cx="5105400" cy="1352550"/>
          </a:xfrm>
          <a:prstGeom prst="roundRect">
            <a:avLst>
              <a:gd fmla="val 845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6324600" y="1581150"/>
            <a:ext cx="38100" cy="13525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6324600" y="3124200"/>
            <a:ext cx="38100" cy="15335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6324600" y="4848225"/>
            <a:ext cx="38100" cy="13525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6915150" y="2533650"/>
            <a:ext cx="2269331" cy="180975"/>
          </a:xfrm>
          <a:prstGeom prst="roundRect">
            <a:avLst>
              <a:gd fmla="val 21052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9" name="Google Shape;1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081212"/>
            <a:ext cx="51054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81212"/>
            <a:ext cx="51054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 txBox="1"/>
          <p:nvPr/>
        </p:nvSpPr>
        <p:spPr>
          <a:xfrm>
            <a:off x="762000" y="533400"/>
            <a:ext cx="11430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DATA ARCHITECTURE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762000" y="771525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Dataset Overview &amp; Architecture Scope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6591300" y="1809750"/>
            <a:ext cx="5600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Structured Dataset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6591300" y="2266950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Execution Performance Log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6591300" y="2524125"/>
            <a:ext cx="56007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File: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6591300" y="3352800"/>
            <a:ext cx="5600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12 Features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6591300" y="3810000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Hardware &amp; Execution Metrics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6591300" y="4067175"/>
            <a:ext cx="4705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Power consumption, temperatures, latency, and resource utilization.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6591300" y="5076825"/>
            <a:ext cx="5600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Efficiency_Class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6591300" y="553402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 Goal Variable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6591300" y="5791200"/>
            <a:ext cx="56007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Categorized performance target: High, Moderate, or Low Efficiency.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6972300" y="2552700"/>
            <a:ext cx="272236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energy_efficient_dataset.xlsx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/>
          <p:nvPr/>
        </p:nvSpPr>
        <p:spPr>
          <a:xfrm>
            <a:off x="762000" y="4529137"/>
            <a:ext cx="10668000" cy="819150"/>
          </a:xfrm>
          <a:prstGeom prst="roundRect">
            <a:avLst>
              <a:gd fmla="val 13953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762000" y="2433637"/>
            <a:ext cx="5238750" cy="933450"/>
          </a:xfrm>
          <a:prstGeom prst="roundRect">
            <a:avLst>
              <a:gd fmla="val 1224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191250" y="2433637"/>
            <a:ext cx="5238750" cy="933450"/>
          </a:xfrm>
          <a:prstGeom prst="roundRect">
            <a:avLst>
              <a:gd fmla="val 1224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762000" y="3557587"/>
            <a:ext cx="5238750" cy="781050"/>
          </a:xfrm>
          <a:prstGeom prst="roundRect">
            <a:avLst>
              <a:gd fmla="val 1463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6191250" y="3557587"/>
            <a:ext cx="5238750" cy="781050"/>
          </a:xfrm>
          <a:prstGeom prst="roundRect">
            <a:avLst>
              <a:gd fmla="val 1463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4686300" y="4929187"/>
            <a:ext cx="4267944" cy="238125"/>
          </a:xfrm>
          <a:prstGeom prst="roundRect">
            <a:avLst>
              <a:gd fmla="val 24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3" name="Google Shape;16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72775" y="472916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2025" y="27098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7098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37576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91275" y="37576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896600" y="484346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2814637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96050" y="281463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76325" y="3862387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05575" y="3862387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 txBox="1"/>
          <p:nvPr/>
        </p:nvSpPr>
        <p:spPr>
          <a:xfrm>
            <a:off x="762000" y="533400"/>
            <a:ext cx="11430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FEATURE ANALYSIS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762000" y="771525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Feature Variables &amp; Target Goal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1000125" y="4729162"/>
            <a:ext cx="1003789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PRIMARY TARGET GOAL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1000125" y="4910137"/>
            <a:ext cx="1053979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Predict System Energy Efficiency Level ()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1495425" y="2633662"/>
            <a:ext cx="565070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Power_Draw_W &amp; Temperature_C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1495425" y="2843212"/>
            <a:ext cx="44005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Real-time wattage draw and thermal dissipation metrics during execution.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6924675" y="2714625"/>
            <a:ext cx="515064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GPU_Util_% &amp; CPU_Util_%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6924675" y="2924175"/>
            <a:ext cx="4905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Percentage of accelerator cores and CPU processor allocation.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1495425" y="3762375"/>
            <a:ext cx="511313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Execution_Time_s &amp; Latency_ms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1495425" y="3971925"/>
            <a:ext cx="48696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Total workload completion runtime and batch response speed.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6924675" y="3762375"/>
            <a:ext cx="52673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Batch_Size &amp; Memory_MB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6924675" y="3971925"/>
            <a:ext cx="5060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Input tensor batch size and active memory bandwidth utilization.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4762500" y="4948237"/>
            <a:ext cx="518253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Efficiency_Class = High / Moderate / Low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"/>
          <p:cNvSpPr/>
          <p:nvPr/>
        </p:nvSpPr>
        <p:spPr>
          <a:xfrm>
            <a:off x="762000" y="2752725"/>
            <a:ext cx="3403550" cy="2314575"/>
          </a:xfrm>
          <a:prstGeom prst="roundRect">
            <a:avLst>
              <a:gd fmla="val 658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4394150" y="2638425"/>
            <a:ext cx="3403550" cy="2543175"/>
          </a:xfrm>
          <a:prstGeom prst="roundRect">
            <a:avLst>
              <a:gd fmla="val 599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8026300" y="2638425"/>
            <a:ext cx="3403550" cy="2543175"/>
          </a:xfrm>
          <a:prstGeom prst="roundRect">
            <a:avLst>
              <a:gd fmla="val 599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1533525" y="4333875"/>
            <a:ext cx="2269331" cy="180975"/>
          </a:xfrm>
          <a:prstGeom prst="roundRect">
            <a:avLst>
              <a:gd fmla="val 21052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4727525" y="4676775"/>
            <a:ext cx="1674762" cy="180975"/>
          </a:xfrm>
          <a:prstGeom prst="roundRect">
            <a:avLst>
              <a:gd fmla="val 21052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5" name="Google Shape;1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225" y="30670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0375" y="29527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02525" y="29527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85862" y="3190875"/>
            <a:ext cx="161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5625" y="3076575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6350" y="307657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7"/>
          <p:cNvSpPr txBox="1"/>
          <p:nvPr/>
        </p:nvSpPr>
        <p:spPr>
          <a:xfrm>
            <a:off x="762000" y="533400"/>
            <a:ext cx="11430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IMPLEMENTATION VERIFICATION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762000" y="771525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Technical Proof &amp; Development Environment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1038225" y="3714750"/>
            <a:ext cx="374206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01. Data Preparation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1038225" y="4067175"/>
            <a:ext cx="29463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Dataset processed &amp; formatted to Excel () with relative path routing.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4670375" y="3600450"/>
            <a:ext cx="374206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02. Environment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4670375" y="3952875"/>
            <a:ext cx="2946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Python kernel &amp; Pandas library configured in Visual Studio environment script ().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8302525" y="3600450"/>
            <a:ext cx="374206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03. Technical Validation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8302525" y="3952875"/>
            <a:ext cx="2946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Verified hardware metrics structure, previewed execution rows, and confirmed class balance across target categories.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1590675" y="4352925"/>
            <a:ext cx="272236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energy_efficient_dataset.xlsx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4784675" y="4695825"/>
            <a:ext cx="19791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PythonApplication2.py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"/>
          <p:cNvSpPr/>
          <p:nvPr/>
        </p:nvSpPr>
        <p:spPr>
          <a:xfrm>
            <a:off x="762000" y="3095625"/>
            <a:ext cx="2266950" cy="1743075"/>
          </a:xfrm>
          <a:prstGeom prst="roundRect">
            <a:avLst>
              <a:gd fmla="val 8743" name="adj"/>
            </a:avLst>
          </a:prstGeom>
          <a:solidFill>
            <a:srgbClr val="F0FDF4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3562350" y="3095625"/>
            <a:ext cx="2266950" cy="1743075"/>
          </a:xfrm>
          <a:prstGeom prst="roundRect">
            <a:avLst>
              <a:gd fmla="val 8743" name="adj"/>
            </a:avLst>
          </a:prstGeom>
          <a:solidFill>
            <a:srgbClr val="F0FDF4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6362700" y="3095625"/>
            <a:ext cx="2266950" cy="1743075"/>
          </a:xfrm>
          <a:prstGeom prst="roundRect">
            <a:avLst>
              <a:gd fmla="val 8743" name="adj"/>
            </a:avLst>
          </a:prstGeom>
          <a:solidFill>
            <a:srgbClr val="F0FDF4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9163050" y="3095625"/>
            <a:ext cx="2266950" cy="1743075"/>
          </a:xfrm>
          <a:prstGeom prst="roundRect">
            <a:avLst>
              <a:gd fmla="val 8743" name="adj"/>
            </a:avLst>
          </a:prstGeom>
          <a:solidFill>
            <a:srgbClr val="F0FDF4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971550" y="3381375"/>
            <a:ext cx="609600" cy="238125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3771900" y="3381375"/>
            <a:ext cx="638175" cy="238125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6572250" y="3381375"/>
            <a:ext cx="638175" cy="238125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9372600" y="3381375"/>
            <a:ext cx="638175" cy="238125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3" name="Google Shape;22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8025" y="389096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8375" y="389096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8725" y="389096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8900" y="34051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0" y="34051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34051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9950" y="340518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8"/>
          <p:cNvSpPr txBox="1"/>
          <p:nvPr/>
        </p:nvSpPr>
        <p:spPr>
          <a:xfrm>
            <a:off x="762000" y="533400"/>
            <a:ext cx="11430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TECHNICAL WORKFLOW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762000" y="771525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Execution Verification Steps</a:t>
            </a:r>
            <a:endParaRPr/>
          </a:p>
        </p:txBody>
      </p:sp>
      <p:sp>
        <p:nvSpPr>
          <p:cNvPr id="232" name="Google Shape;232;p18"/>
          <p:cNvSpPr txBox="1"/>
          <p:nvPr/>
        </p:nvSpPr>
        <p:spPr>
          <a:xfrm>
            <a:off x="971550" y="3771900"/>
            <a:ext cx="242530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df.head()</a:t>
            </a:r>
            <a:endParaRPr/>
          </a:p>
        </p:txBody>
      </p:sp>
      <p:sp>
        <p:nvSpPr>
          <p:cNvPr id="233" name="Google Shape;233;p18"/>
          <p:cNvSpPr txBox="1"/>
          <p:nvPr/>
        </p:nvSpPr>
        <p:spPr>
          <a:xfrm>
            <a:off x="971550" y="4067175"/>
            <a:ext cx="19431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Previewed initial records to confirm seamless data loading and schema parsing.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3771900" y="3771900"/>
            <a:ext cx="242530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df.info()</a:t>
            </a:r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3771900" y="4067175"/>
            <a:ext cx="19431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Verified column data types, null values, and hardware feature dimensions.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6572250" y="3771900"/>
            <a:ext cx="242530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value_counts()</a:t>
            </a:r>
            <a:endParaRPr/>
          </a:p>
        </p:txBody>
      </p:sp>
      <p:sp>
        <p:nvSpPr>
          <p:cNvPr id="237" name="Google Shape;237;p18"/>
          <p:cNvSpPr txBox="1"/>
          <p:nvPr/>
        </p:nvSpPr>
        <p:spPr>
          <a:xfrm>
            <a:off x="6572250" y="4067175"/>
            <a:ext cx="19431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Checked Efficiency_Class distribution across High, Moderate, and Low status.</a:t>
            </a:r>
            <a:endParaRPr/>
          </a:p>
        </p:txBody>
      </p:sp>
      <p:sp>
        <p:nvSpPr>
          <p:cNvPr id="238" name="Google Shape;238;p18"/>
          <p:cNvSpPr txBox="1"/>
          <p:nvPr/>
        </p:nvSpPr>
        <p:spPr>
          <a:xfrm>
            <a:off x="9372600" y="3771900"/>
            <a:ext cx="242530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Status Executed</a:t>
            </a:r>
            <a:endParaRPr/>
          </a:p>
        </p:txBody>
      </p:sp>
      <p:sp>
        <p:nvSpPr>
          <p:cNvPr id="239" name="Google Shape;239;p18"/>
          <p:cNvSpPr txBox="1"/>
          <p:nvPr/>
        </p:nvSpPr>
        <p:spPr>
          <a:xfrm>
            <a:off x="9372600" y="4067175"/>
            <a:ext cx="19431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Code successfully executed &amp; committed to GitHub project repository.</a:t>
            </a:r>
            <a:endParaRPr/>
          </a:p>
        </p:txBody>
      </p:sp>
      <p:sp>
        <p:nvSpPr>
          <p:cNvPr id="240" name="Google Shape;240;p18"/>
          <p:cNvSpPr txBox="1"/>
          <p:nvPr/>
        </p:nvSpPr>
        <p:spPr>
          <a:xfrm>
            <a:off x="1085850" y="3419475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Step 1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3886200" y="3419475"/>
            <a:ext cx="5048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Step 2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6686550" y="3419475"/>
            <a:ext cx="5048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Step 3</a:t>
            </a:r>
            <a:endParaRPr/>
          </a:p>
        </p:txBody>
      </p:sp>
      <p:sp>
        <p:nvSpPr>
          <p:cNvPr id="243" name="Google Shape;243;p18"/>
          <p:cNvSpPr txBox="1"/>
          <p:nvPr/>
        </p:nvSpPr>
        <p:spPr>
          <a:xfrm>
            <a:off x="9486900" y="3419475"/>
            <a:ext cx="5048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Step 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/>
          <p:nvPr/>
        </p:nvSpPr>
        <p:spPr>
          <a:xfrm>
            <a:off x="2243137" y="3931890"/>
            <a:ext cx="7705725" cy="533400"/>
          </a:xfrm>
          <a:prstGeom prst="roundRect">
            <a:avLst>
              <a:gd fmla="val 21428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5119687" y="4770090"/>
            <a:ext cx="1952625" cy="485775"/>
          </a:xfrm>
          <a:prstGeom prst="roundRect">
            <a:avLst>
              <a:gd fmla="val 23529" name="adj"/>
            </a:avLst>
          </a:prstGeom>
          <a:solidFill>
            <a:srgbClr val="0F2733"/>
          </a:solidFill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0" name="Google Shape;2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1602134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6937" y="1773584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19362" y="4093815"/>
            <a:ext cx="2000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9"/>
          <p:cNvSpPr txBox="1"/>
          <p:nvPr/>
        </p:nvSpPr>
        <p:spPr>
          <a:xfrm>
            <a:off x="1401663" y="2440334"/>
            <a:ext cx="9388673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Milestone 1 Technical Proof Completed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1452562" y="3078509"/>
            <a:ext cx="92868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Energy-Efficient AI Performance dataset successfully ingested, validated, and pushed to the project repository.</a:t>
            </a:r>
            <a:endParaRPr/>
          </a:p>
        </p:txBody>
      </p:sp>
      <p:sp>
        <p:nvSpPr>
          <p:cNvPr id="255" name="Google Shape;255;p19"/>
          <p:cNvSpPr txBox="1"/>
          <p:nvPr/>
        </p:nvSpPr>
        <p:spPr>
          <a:xfrm>
            <a:off x="1978818" y="4103340"/>
            <a:ext cx="854868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GitHub Repository: https://github.com/alaa23hassan1-boop/Energy-Efficient-AI-Performance</a:t>
            </a: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5268515" y="4912965"/>
            <a:ext cx="16549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